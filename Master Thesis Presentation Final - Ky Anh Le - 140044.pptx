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  <p:sldId id="267" r:id="rId8"/>
    <p:sldId id="260" r:id="rId9"/>
    <p:sldId id="269" r:id="rId10"/>
    <p:sldId id="271" r:id="rId11"/>
    <p:sldId id="272" r:id="rId12"/>
    <p:sldId id="273" r:id="rId13"/>
    <p:sldId id="274" r:id="rId14"/>
    <p:sldId id="277" r:id="rId15"/>
    <p:sldId id="278" r:id="rId16"/>
    <p:sldId id="285" r:id="rId17"/>
    <p:sldId id="286" r:id="rId18"/>
    <p:sldId id="281" r:id="rId19"/>
    <p:sldId id="282" r:id="rId20"/>
    <p:sldId id="275" r:id="rId21"/>
    <p:sldId id="276" r:id="rId22"/>
    <p:sldId id="283" r:id="rId23"/>
    <p:sldId id="284" r:id="rId24"/>
    <p:sldId id="280" r:id="rId25"/>
    <p:sldId id="266" r:id="rId26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  <p188:author id="{895CB7EB-CDF5-FBF2-AC78-EA660219C758}" name="Thu Giang Nguyen" initials="TN" userId="S::gn140043@student.sgh.waw.pl::72cd3d85-e805-4ea8-a488-8d5c0b5c2a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85"/>
    <p:restoredTop sz="94662"/>
  </p:normalViewPr>
  <p:slideViewPr>
    <p:cSldViewPr snapToGrid="0" snapToObjects="1">
      <p:cViewPr varScale="1">
        <p:scale>
          <a:sx n="89" d="100"/>
          <a:sy n="89" d="100"/>
        </p:scale>
        <p:origin x="44" y="8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ytuł prezentacji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r>
              <a:rPr lang="pl-PL" dirty="0"/>
              <a:t>1</a:t>
            </a:r>
          </a:p>
        </p:txBody>
      </p:sp>
      <p:pic>
        <p:nvPicPr>
          <p:cNvPr id="9" name="Obraz 8" descr="logoSGH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6442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prezentacj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foto-ogolna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pic>
        <p:nvPicPr>
          <p:cNvPr id="6" name="Obraz 5" descr="SGH_piramida-ogoln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r>
              <a:rPr lang="pl-PL" dirty="0"/>
              <a:t>1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  <p:sp>
        <p:nvSpPr>
          <p:cNvPr id="10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11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931825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ytuł rozdział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>
            <a:spLocks noGrp="1"/>
          </p:cNvSpPr>
          <p:nvPr>
            <p:ph type="ctrTitle"/>
          </p:nvPr>
        </p:nvSpPr>
        <p:spPr>
          <a:xfrm>
            <a:off x="1044000" y="3181996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en-US" dirty="0"/>
              <a:t>Click to edit Master title style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8760491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1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7999" y="1187302"/>
            <a:ext cx="7773417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07750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ajd 2 kolum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8000" y="1187302"/>
            <a:ext cx="3577800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920624" y="1187302"/>
            <a:ext cx="3766176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005805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eria zdję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9" name="Symbol zastępczy obrazu 8"/>
          <p:cNvSpPr>
            <a:spLocks noGrp="1"/>
          </p:cNvSpPr>
          <p:nvPr>
            <p:ph type="pic" sz="quarter" idx="11"/>
          </p:nvPr>
        </p:nvSpPr>
        <p:spPr>
          <a:xfrm>
            <a:off x="917575" y="1538288"/>
            <a:ext cx="2273300" cy="2066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sp>
        <p:nvSpPr>
          <p:cNvPr id="11" name="Symbol zastępczy zawartości 10"/>
          <p:cNvSpPr>
            <a:spLocks noGrp="1"/>
          </p:cNvSpPr>
          <p:nvPr>
            <p:ph sz="quarter" idx="12"/>
          </p:nvPr>
        </p:nvSpPr>
        <p:spPr>
          <a:xfrm>
            <a:off x="917575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3" hasCustomPrompt="1"/>
          </p:nvPr>
        </p:nvSpPr>
        <p:spPr>
          <a:xfrm>
            <a:off x="3661120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3" name="Symbol zastępczy obrazu 8"/>
          <p:cNvSpPr>
            <a:spLocks noGrp="1"/>
          </p:cNvSpPr>
          <p:nvPr>
            <p:ph type="pic" sz="quarter" idx="14"/>
          </p:nvPr>
        </p:nvSpPr>
        <p:spPr>
          <a:xfrm>
            <a:off x="3661120" y="1538288"/>
            <a:ext cx="2273300" cy="2066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sp>
        <p:nvSpPr>
          <p:cNvPr id="14" name="Symbol zastępczy zawartości 10"/>
          <p:cNvSpPr>
            <a:spLocks noGrp="1"/>
          </p:cNvSpPr>
          <p:nvPr>
            <p:ph sz="quarter" idx="15"/>
          </p:nvPr>
        </p:nvSpPr>
        <p:spPr>
          <a:xfrm>
            <a:off x="3661120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6404391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6" name="Symbol zastępczy obrazu 8"/>
          <p:cNvSpPr>
            <a:spLocks noGrp="1"/>
          </p:cNvSpPr>
          <p:nvPr>
            <p:ph type="pic" sz="quarter" idx="17"/>
          </p:nvPr>
        </p:nvSpPr>
        <p:spPr>
          <a:xfrm>
            <a:off x="6404391" y="1538288"/>
            <a:ext cx="2273300" cy="2066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sp>
        <p:nvSpPr>
          <p:cNvPr id="17" name="Symbol zastępczy zawartości 10"/>
          <p:cNvSpPr>
            <a:spLocks noGrp="1"/>
          </p:cNvSpPr>
          <p:nvPr>
            <p:ph sz="quarter" idx="18"/>
          </p:nvPr>
        </p:nvSpPr>
        <p:spPr>
          <a:xfrm>
            <a:off x="6404391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7750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wizerunk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8" name="Symbol zastępczy obrazu 7"/>
          <p:cNvSpPr>
            <a:spLocks noGrp="1"/>
          </p:cNvSpPr>
          <p:nvPr>
            <p:ph type="pic" sz="quarter" idx="10"/>
          </p:nvPr>
        </p:nvSpPr>
        <p:spPr>
          <a:xfrm>
            <a:off x="0" y="1270000"/>
            <a:ext cx="4135438" cy="284003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sp>
        <p:nvSpPr>
          <p:cNvPr id="10" name="Symbol zastępczy tekstu 9"/>
          <p:cNvSpPr>
            <a:spLocks noGrp="1"/>
          </p:cNvSpPr>
          <p:nvPr>
            <p:ph type="body" sz="quarter" idx="11"/>
          </p:nvPr>
        </p:nvSpPr>
        <p:spPr>
          <a:xfrm>
            <a:off x="4562475" y="1270000"/>
            <a:ext cx="4129088" cy="2840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683463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6753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18000" y="1043751"/>
            <a:ext cx="7768800" cy="33944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PoleTekstowe 7"/>
          <p:cNvSpPr txBox="1"/>
          <p:nvPr userDrawn="1"/>
        </p:nvSpPr>
        <p:spPr>
          <a:xfrm>
            <a:off x="7896328" y="4586443"/>
            <a:ext cx="7950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l-PL" sz="800" dirty="0" err="1">
                <a:solidFill>
                  <a:srgbClr val="007481"/>
                </a:solidFill>
                <a:latin typeface="Open Sans Regular"/>
                <a:cs typeface="Open Sans Regular"/>
              </a:rPr>
              <a:t>www.sgh.waw.pl</a:t>
            </a:r>
            <a:endParaRPr lang="pl-PL" sz="800" dirty="0">
              <a:solidFill>
                <a:srgbClr val="007481"/>
              </a:solidFill>
              <a:latin typeface="Open Sans Regular"/>
              <a:cs typeface="Open Sans Regular"/>
            </a:endParaRPr>
          </a:p>
        </p:txBody>
      </p:sp>
      <p:pic>
        <p:nvPicPr>
          <p:cNvPr id="9" name="Obraz 8" descr="SGH_male-logo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63" y="4601068"/>
            <a:ext cx="395520" cy="1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1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2" r:id="rId5"/>
    <p:sldLayoutId id="2147483663" r:id="rId6"/>
    <p:sldLayoutId id="2147483654" r:id="rId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Open Sans Regular"/>
          <a:ea typeface="+mj-ea"/>
          <a:cs typeface="Open Sans Regular"/>
        </a:defRPr>
      </a:lvl1pPr>
    </p:titleStyle>
    <p:bodyStyle>
      <a:lvl1pPr marL="216000" indent="-216000" algn="l" defTabSz="457200" rtl="0" eaLnBrk="1" latinLnBrk="0" hangingPunct="1">
        <a:lnSpc>
          <a:spcPct val="112000"/>
        </a:lnSpc>
        <a:spcBef>
          <a:spcPts val="0"/>
        </a:spcBef>
        <a:buClr>
          <a:schemeClr val="tx2"/>
        </a:buClr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»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44000" y="1675977"/>
            <a:ext cx="7541112" cy="854654"/>
          </a:xfrm>
        </p:spPr>
        <p:txBody>
          <a:bodyPr/>
          <a:lstStyle/>
          <a:p>
            <a:r>
              <a:rPr lang="en-GB" sz="2800" dirty="0"/>
              <a:t>Optimizing bank capital allocation under the Profitability–Liquidity risk trade-off</a:t>
            </a:r>
            <a:endParaRPr lang="en-GB" sz="28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5BCDF-86EE-538F-29FE-A92A7BB37B3F}"/>
              </a:ext>
            </a:extLst>
          </p:cNvPr>
          <p:cNvSpPr txBox="1"/>
          <p:nvPr/>
        </p:nvSpPr>
        <p:spPr>
          <a:xfrm>
            <a:off x="975661" y="2994355"/>
            <a:ext cx="516308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Master’s study</a:t>
            </a:r>
          </a:p>
          <a:p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of study Advanced Analytics – Big Data</a:t>
            </a:r>
          </a:p>
          <a:p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Written by Ky Anh Le – Student Register No. 140044</a:t>
            </a:r>
          </a:p>
          <a:p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 the supervised of: Mateusz Zawisza, PhD</a:t>
            </a:r>
          </a:p>
          <a:p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Institute of Econometrics</a:t>
            </a:r>
          </a:p>
        </p:txBody>
      </p:sp>
    </p:spTree>
    <p:extLst>
      <p:ext uri="{BB962C8B-B14F-4D97-AF65-F5344CB8AC3E}">
        <p14:creationId xmlns:p14="http://schemas.microsoft.com/office/powerpoint/2010/main" val="72607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EF00-3F35-EEFB-D53C-099FFCE3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675334"/>
          </a:xfrm>
        </p:spPr>
        <p:txBody>
          <a:bodyPr anchor="t"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6C511C-F1C2-E546-216E-8E36C1BB1D81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9EB157-5145-1977-C000-A8E0542EA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8000" y="1187303"/>
            <a:ext cx="7773416" cy="126379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Optimizing bank capital allocation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jointly manage 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profitability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liquidity risk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Quantifying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trade-off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between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banks’ profitability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liquidity risk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under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uncertainty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interest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rates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withdrawal behaviour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Examining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how the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risk–return trade-off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evolves across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 macroeconomic regimes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B491215-4E31-78B6-FA58-69A872B1DB91}"/>
              </a:ext>
            </a:extLst>
          </p:cNvPr>
          <p:cNvSpPr txBox="1">
            <a:spLocks/>
          </p:cNvSpPr>
          <p:nvPr/>
        </p:nvSpPr>
        <p:spPr>
          <a:xfrm>
            <a:off x="917998" y="2669111"/>
            <a:ext cx="7773417" cy="14672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Research questions:</a:t>
            </a:r>
          </a:p>
          <a:p>
            <a:pPr marL="0" indent="0">
              <a:buNone/>
            </a:pPr>
            <a:endParaRPr lang="en-GB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“How does bank capital allocation across asset classes shape the trade-off between 	profitability and liquidity risk under uncertainty in interest rates and withdrawal behaviour, 	and how does this trade-off evolve across different macroeconomic regimes?”</a:t>
            </a:r>
          </a:p>
        </p:txBody>
      </p:sp>
    </p:spTree>
    <p:extLst>
      <p:ext uri="{BB962C8B-B14F-4D97-AF65-F5344CB8AC3E}">
        <p14:creationId xmlns:p14="http://schemas.microsoft.com/office/powerpoint/2010/main" val="19433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7F5F-D675-6EA0-24A5-ECD7F0188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Regular"/>
              </a:rPr>
              <a:t>Motivation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40E1E-42DA-0922-7043-60EE62BFB1F3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2</a:t>
            </a:r>
            <a:endParaRPr lang="en-US" sz="10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7A2B80-2343-A556-3D4E-34ACA26863FD}"/>
              </a:ext>
            </a:extLst>
          </p:cNvPr>
          <p:cNvSpPr txBox="1">
            <a:spLocks/>
          </p:cNvSpPr>
          <p:nvPr/>
        </p:nvSpPr>
        <p:spPr>
          <a:xfrm>
            <a:off x="917999" y="1369332"/>
            <a:ext cx="7714078" cy="24955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Banks face an inherent trade-off between profitability and liquidity resilience because liquid assets are safer but lower-yield, while illiquid assets are more profitable but increase liquidity risk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(Freixas &amp; Rochet, 2008).</a:t>
            </a:r>
          </a:p>
          <a:p>
            <a:pPr marL="0" indent="0">
              <a:buNone/>
            </a:pP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Liquidity shocks can rapidly threaten otherwise solvent banks, making liquidity management a central issue for both bank stability and systemic risk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(Diamond &amp; Dybvig, 1983; </a:t>
            </a:r>
            <a:r>
              <a:rPr lang="en-GB" sz="1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Brunnermeier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Oehmke, 2016).</a:t>
            </a:r>
          </a:p>
          <a:p>
            <a:pPr marL="0" indent="0">
              <a:buNone/>
            </a:pP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III strengthened this concern by imposing explicit liquidity standards such as the LCR and NSFR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(BCBS, 2011; BCBS, 2014)</a:t>
            </a: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46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CEC4-3849-D641-E2BA-3F55F685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C38D-5B9F-B6CE-5C82-E4652084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Regular"/>
              </a:rPr>
              <a:t>Literature background &amp; Research gap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FEFCB-5605-DDB0-2C31-913000E0F2A5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F181547-7F5E-AC28-411A-98D19863F657}"/>
              </a:ext>
            </a:extLst>
          </p:cNvPr>
          <p:cNvSpPr txBox="1">
            <a:spLocks/>
          </p:cNvSpPr>
          <p:nvPr/>
        </p:nvSpPr>
        <p:spPr>
          <a:xfrm>
            <a:off x="917998" y="1420134"/>
            <a:ext cx="7773417" cy="24955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Prior studies document the relationship between liquidity and profitability, but mostly treat it as an empirical outcome rather than an explicit allocation problem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(Bordeleau &amp; Graham, 2010; Berger &amp; Bouwman, 2009).</a:t>
            </a:r>
          </a:p>
          <a:p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III–type approaches typically embed liquidity through regulatory ratios and standardized stress assumptions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(BCBS, 2011; BCBS, 2013; BCBS, 2014).</a:t>
            </a:r>
          </a:p>
          <a:p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Optimization models in banking often remain single-objective, focusing mainly on return maximization under constraints 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(Markowitz, 1952; Deelstra et al., 2011).</a:t>
            </a: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26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3DE4-44BD-5CA9-2BEE-8370F042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Regular"/>
              </a:rPr>
              <a:t>Data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138A4-1F27-3A28-7E76-17908576BDD1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661DE6A-BC73-6FF9-8A4C-AB0B6BDBA7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7999" y="1187302"/>
                <a:ext cx="4145885" cy="187751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Asset variables – Decision variables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𝒘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𝒊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):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Cash and reserves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Interbank lending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Government bonds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Corporate bonds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Government loans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Domestic loans</a:t>
                </a: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661DE6A-BC73-6FF9-8A4C-AB0B6BDBA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99" y="1187302"/>
                <a:ext cx="4145885" cy="1877515"/>
              </a:xfrm>
              <a:prstGeom prst="rect">
                <a:avLst/>
              </a:prstGeom>
              <a:blipFill>
                <a:blip r:embed="rId3"/>
                <a:stretch>
                  <a:fillRect l="-2647" t="-1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3C71D2-8933-3DE1-4735-058B1D6CA258}"/>
              </a:ext>
            </a:extLst>
          </p:cNvPr>
          <p:cNvCxnSpPr>
            <a:cxnSpLocks/>
          </p:cNvCxnSpPr>
          <p:nvPr/>
        </p:nvCxnSpPr>
        <p:spPr>
          <a:xfrm>
            <a:off x="800887" y="3405351"/>
            <a:ext cx="770618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D503D7A-4873-FF26-029C-CB8952D56762}"/>
              </a:ext>
            </a:extLst>
          </p:cNvPr>
          <p:cNvSpPr txBox="1">
            <a:spLocks/>
          </p:cNvSpPr>
          <p:nvPr/>
        </p:nvSpPr>
        <p:spPr>
          <a:xfrm>
            <a:off x="800887" y="3469401"/>
            <a:ext cx="7996916" cy="8944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sources:</a:t>
            </a:r>
          </a:p>
          <a:p>
            <a: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Aggregated balance sheet data from </a:t>
            </a:r>
            <a:r>
              <a:rPr lang="en-GB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Naradowy</a:t>
            </a:r>
            <a: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Bank Polski</a:t>
            </a:r>
          </a:p>
          <a:p>
            <a: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Interest rate data from Federal Reserve Economic Data, and </a:t>
            </a:r>
            <a:r>
              <a:rPr lang="en-GB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Naradowy</a:t>
            </a:r>
            <a: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Bank Polski</a:t>
            </a:r>
          </a:p>
          <a:p>
            <a:pPr marL="0" indent="0">
              <a:buNone/>
            </a:pPr>
            <a:endParaRPr lang="en-GB"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GB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Period:</a:t>
            </a:r>
            <a: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January 2005 – December 2025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A99C2-7E6F-5C60-6347-7BC9F2A7A0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9345" y="1187302"/>
                <a:ext cx="4477496" cy="218688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Liabilities variables – Funding variables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𝒍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𝒊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):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Deposits overnight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Deposits with agreed maturity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Deposits repos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Deposits to central government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Debt securities issued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Interbank borrowing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Other funding</a:t>
                </a: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A99C2-7E6F-5C60-6347-7BC9F2A7A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345" y="1187302"/>
                <a:ext cx="4477496" cy="2186886"/>
              </a:xfrm>
              <a:prstGeom prst="rect">
                <a:avLst/>
              </a:prstGeom>
              <a:blipFill>
                <a:blip r:embed="rId4"/>
                <a:stretch>
                  <a:fillRect l="-2449" t="-16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97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FFB8-9D93-FDA6-D02F-8B1960E5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656B-D78B-37FA-6C84-CE827DCE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Regular"/>
              </a:rPr>
              <a:t>Problem definition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B3E81-CFC9-DC37-7C18-99EEC3424893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3C01D70-AACC-095B-02AA-C5B10372E6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8000" y="1128979"/>
                <a:ext cx="2268440" cy="152591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Bank’s profitability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Return on Assets (ROA)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𝑅𝑂𝐴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𝑁𝑒𝑡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𝑖𝑛𝑐𝑜𝑚𝑒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𝑇𝑜𝑡𝑎𝑙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𝑎𝑠𝑠𝑒𝑡𝑠</m:t>
                          </m:r>
                        </m:den>
                      </m:f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3C01D70-AACC-095B-02AA-C5B10372E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" y="1128979"/>
                <a:ext cx="2268440" cy="1525916"/>
              </a:xfrm>
              <a:prstGeom prst="rect">
                <a:avLst/>
              </a:prstGeom>
              <a:blipFill>
                <a:blip r:embed="rId3"/>
                <a:stretch>
                  <a:fillRect l="-4839" t="-3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3D89D3-74DD-052F-6594-10D3FF6A40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31269" y="1128979"/>
                <a:ext cx="5112970" cy="157676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Liquidity risk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Liquidity coverage ratio (LCR)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𝐿𝐶𝑅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𝑆𝑡𝑜𝑐𝑘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𝑜𝑓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𝐻𝑖𝑔h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𝑄𝑢𝑎𝑙𝑖𝑡𝑦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𝐿𝑖𝑞𝑢𝑖𝑑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𝐴𝑠𝑠𝑒𝑡𝑠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𝑇𝑜𝑡𝑎𝑙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𝑛𝑒𝑡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𝑐𝑎𝑠h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𝑜𝑢𝑡𝑓𝑙𝑜𝑤𝑠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𝑜𝑣𝑒𝑟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𝑡h𝑒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𝑛𝑒𝑥𝑡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30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𝑐𝑎𝑙𝑒𝑛𝑑𝑎𝑟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𝑑𝑎𝑦𝑠</m:t>
                          </m:r>
                        </m:den>
                      </m:f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3D89D3-74DD-052F-6594-10D3FF6A4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269" y="1128979"/>
                <a:ext cx="5112970" cy="1576763"/>
              </a:xfrm>
              <a:prstGeom prst="rect">
                <a:avLst/>
              </a:prstGeom>
              <a:blipFill>
                <a:blip r:embed="rId4"/>
                <a:stretch>
                  <a:fillRect l="-2145" t="-30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5AFCAA-3B88-D9C7-24C4-32731AFF3C1E}"/>
              </a:ext>
            </a:extLst>
          </p:cNvPr>
          <p:cNvSpPr txBox="1">
            <a:spLocks/>
          </p:cNvSpPr>
          <p:nvPr/>
        </p:nvSpPr>
        <p:spPr>
          <a:xfrm>
            <a:off x="917999" y="3032387"/>
            <a:ext cx="7773417" cy="12950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liquid assets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(cash, reserves, government bonds)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strengthen LCR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usually earn low yields,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reducing ROA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Higher-yield assets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(loans, mortgages) support profitability,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increasing ROA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are less liquid, making it harder to meet sudden cash outflows, therefore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lower LCR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584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11A0-B305-8B59-384F-A17BFAA4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8E18-6EC4-EB9C-AD58-27100AD7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Regular"/>
              </a:rPr>
              <a:t>Method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74B1B-D2F8-083A-52A6-BBDB00B44F71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A969713-58B8-250C-625F-BE1E21C4FE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8000" y="1539105"/>
                <a:ext cx="7773416" cy="192843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Deterministic optimization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Maximize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𝑂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𝑤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𝛼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𝑅𝑂𝐴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𝑤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+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1−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𝛼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𝐿𝐶𝑅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𝛼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𝑏𝑎𝑛𝑘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𝑟𝑖𝑠𝑘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𝑎𝑝𝑝𝑒𝑡𝑖𝑡𝑒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    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𝛼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∈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A969713-58B8-250C-625F-BE1E21C4F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" y="1539105"/>
                <a:ext cx="7773416" cy="1928431"/>
              </a:xfrm>
              <a:prstGeom prst="rect">
                <a:avLst/>
              </a:prstGeom>
              <a:blipFill>
                <a:blip r:embed="rId3"/>
                <a:stretch>
                  <a:fillRect l="-1412" t="-2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1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C988-623B-6ABC-EF1B-7515A3A8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A4F5-7096-B84B-96EE-E8A82E79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Regular"/>
              </a:rPr>
              <a:t>Method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77993-97BE-8579-CF4F-AA2C0E4D19F5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CEFD3EC-1991-494A-DE0E-6DE2077147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8000" y="1011637"/>
                <a:ext cx="7773416" cy="327343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Stochastic optimization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Incorporating uncertainty market conditions:</a:t>
                </a: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Interest rates -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𝑟</m:t>
                    </m:r>
                  </m:oMath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Liquidity demand -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𝛿</m:t>
                    </m:r>
                  </m:oMath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Maximize</a:t>
                </a: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</m:t>
                          </m:r>
                        </m:sup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𝑤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𝑆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𝑛𝑢𝑚𝑏𝑒𝑟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𝑠𝑖𝑚𝑢𝑙𝑎𝑡𝑒𝑑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𝑠𝑐𝑒𝑛𝑎𝑟𝑖𝑜𝑠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=1000</m:t>
                      </m:r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𝑠𝑖𝑚𝑢𝑙𝑎𝑡𝑒𝑑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𝑠h𝑜𝑐𝑘𝑠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𝑎𝑠𝑠𝑒𝑡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𝑟𝑒𝑡𝑢𝑟𝑛𝑠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𝑙𝑖𝑎𝑏𝑖𝑙𝑖𝑡𝑦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𝑟𝑢𝑛𝑜𝑓𝑓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𝑟𝑎𝑡𝑒𝑠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𝑠𝑐𝑒𝑛𝑎𝑟𝑖𝑜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CEFD3EC-1991-494A-DE0E-6DE20771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" y="1011637"/>
                <a:ext cx="7773416" cy="3273431"/>
              </a:xfrm>
              <a:prstGeom prst="rect">
                <a:avLst/>
              </a:prstGeom>
              <a:blipFill>
                <a:blip r:embed="rId2"/>
                <a:stretch>
                  <a:fillRect l="-1412" t="-1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96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102B-9A63-2F1A-5952-EAA06BF2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A0DE942-5987-96AF-18FE-3F8438894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00" y="1110514"/>
            <a:ext cx="4369820" cy="32749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C21C8-13AF-0354-F26C-B84F32DF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450756"/>
          </a:xfrm>
        </p:spPr>
        <p:txBody>
          <a:bodyPr/>
          <a:lstStyle/>
          <a:p>
            <a:r>
              <a:rPr lang="en-US" dirty="0">
                <a:ea typeface="Open Sans Regular"/>
              </a:rPr>
              <a:t>Results</a:t>
            </a:r>
            <a:br>
              <a:rPr lang="en-US" dirty="0">
                <a:ea typeface="Open Sans Regular"/>
              </a:rPr>
            </a:br>
            <a:endParaRPr lang="en-US" dirty="0">
              <a:ea typeface="Open Sans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341F8-C78E-049C-BE79-695FA77FF465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9487C-C180-9A85-54BD-CDA48C81DD38}"/>
              </a:ext>
            </a:extLst>
          </p:cNvPr>
          <p:cNvSpPr txBox="1"/>
          <p:nvPr/>
        </p:nvSpPr>
        <p:spPr>
          <a:xfrm>
            <a:off x="838846" y="859871"/>
            <a:ext cx="79589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Deterministic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trade-off is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non-linear,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last 0.10 increase in LCR (1.2 – 1.3) costs ~ 0.48 percentage points of ROA, more than the previous 0.33 increase from 0.87 to 1.20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LCR.</a:t>
            </a:r>
            <a:endParaRPr lang="en-US" sz="1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48F012-2136-E404-C6A4-EC35E1778700}"/>
              </a:ext>
            </a:extLst>
          </p:cNvPr>
          <p:cNvSpPr/>
          <p:nvPr/>
        </p:nvSpPr>
        <p:spPr>
          <a:xfrm>
            <a:off x="1096433" y="1451578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CD35D-580C-D739-0E07-080996740A90}"/>
              </a:ext>
            </a:extLst>
          </p:cNvPr>
          <p:cNvSpPr/>
          <p:nvPr/>
        </p:nvSpPr>
        <p:spPr>
          <a:xfrm>
            <a:off x="1096433" y="1921478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313D42-AA61-E7DC-B0B9-D89C04834C29}"/>
              </a:ext>
            </a:extLst>
          </p:cNvPr>
          <p:cNvSpPr/>
          <p:nvPr/>
        </p:nvSpPr>
        <p:spPr>
          <a:xfrm>
            <a:off x="1096433" y="2391378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164472-687E-6570-1182-E447E7F9C17D}"/>
              </a:ext>
            </a:extLst>
          </p:cNvPr>
          <p:cNvSpPr/>
          <p:nvPr/>
        </p:nvSpPr>
        <p:spPr>
          <a:xfrm>
            <a:off x="1096433" y="2867628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89AD87-2643-E5C4-C8BA-108FB1C8A63F}"/>
              </a:ext>
            </a:extLst>
          </p:cNvPr>
          <p:cNvSpPr/>
          <p:nvPr/>
        </p:nvSpPr>
        <p:spPr>
          <a:xfrm>
            <a:off x="1096433" y="3341138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D83FF-CCBB-E1C3-EDA0-5EF7B36E081E}"/>
              </a:ext>
            </a:extLst>
          </p:cNvPr>
          <p:cNvSpPr/>
          <p:nvPr/>
        </p:nvSpPr>
        <p:spPr>
          <a:xfrm>
            <a:off x="1090083" y="3794352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4.8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706333-DD23-7EED-7BC1-D23C8D0E66C2}"/>
              </a:ext>
            </a:extLst>
          </p:cNvPr>
          <p:cNvCxnSpPr>
            <a:cxnSpLocks/>
          </p:cNvCxnSpPr>
          <p:nvPr/>
        </p:nvCxnSpPr>
        <p:spPr>
          <a:xfrm>
            <a:off x="1650806" y="1710137"/>
            <a:ext cx="1264751" cy="23114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27D730-15BD-9867-0F37-5AF7B04A4DA8}"/>
              </a:ext>
            </a:extLst>
          </p:cNvPr>
          <p:cNvCxnSpPr/>
          <p:nvPr/>
        </p:nvCxnSpPr>
        <p:spPr>
          <a:xfrm>
            <a:off x="2993571" y="1984829"/>
            <a:ext cx="1268186" cy="84364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0953AE-D27B-B4E1-6BB8-EA27F840B11C}"/>
              </a:ext>
            </a:extLst>
          </p:cNvPr>
          <p:cNvCxnSpPr>
            <a:cxnSpLocks/>
          </p:cNvCxnSpPr>
          <p:nvPr/>
        </p:nvCxnSpPr>
        <p:spPr>
          <a:xfrm>
            <a:off x="4314371" y="2911929"/>
            <a:ext cx="304800" cy="96277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62F5DF7-6001-3695-655A-912CB8027EA5}"/>
              </a:ext>
            </a:extLst>
          </p:cNvPr>
          <p:cNvSpPr/>
          <p:nvPr/>
        </p:nvSpPr>
        <p:spPr>
          <a:xfrm>
            <a:off x="2091267" y="1916360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192290-E1D6-AE77-268A-D21ACCCD4D7D}"/>
              </a:ext>
            </a:extLst>
          </p:cNvPr>
          <p:cNvSpPr/>
          <p:nvPr/>
        </p:nvSpPr>
        <p:spPr>
          <a:xfrm>
            <a:off x="3377018" y="2471727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FE4A52A-7908-2885-3790-F8D9A493B4E2}"/>
              </a:ext>
            </a:extLst>
          </p:cNvPr>
          <p:cNvSpPr/>
          <p:nvPr/>
        </p:nvSpPr>
        <p:spPr>
          <a:xfrm>
            <a:off x="4162309" y="3314634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D10DD9-6211-201F-F186-F6A0C8416545}"/>
              </a:ext>
            </a:extLst>
          </p:cNvPr>
          <p:cNvSpPr/>
          <p:nvPr/>
        </p:nvSpPr>
        <p:spPr>
          <a:xfrm>
            <a:off x="5027061" y="1612277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07266F-CC89-4157-2330-16E12CB3777F}"/>
              </a:ext>
            </a:extLst>
          </p:cNvPr>
          <p:cNvSpPr txBox="1"/>
          <p:nvPr/>
        </p:nvSpPr>
        <p:spPr>
          <a:xfrm>
            <a:off x="5252032" y="1583660"/>
            <a:ext cx="34393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Flat at low LCR: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~0.03–0.04 p.p. ROA per +0.1 LCR.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AF1AEF-2F0C-C949-7201-765984A5C95D}"/>
              </a:ext>
            </a:extLst>
          </p:cNvPr>
          <p:cNvSpPr/>
          <p:nvPr/>
        </p:nvSpPr>
        <p:spPr>
          <a:xfrm>
            <a:off x="5027061" y="2471726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94361-E548-66BC-EFF7-EC0D4E7DE3F0}"/>
              </a:ext>
            </a:extLst>
          </p:cNvPr>
          <p:cNvSpPr txBox="1"/>
          <p:nvPr/>
        </p:nvSpPr>
        <p:spPr>
          <a:xfrm>
            <a:off x="5252032" y="2434875"/>
            <a:ext cx="32890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Moderate near 1.0–1.2: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~0.12 p.p. ROA per +0.1 LCR.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2DF3F37-2DA9-CD03-7381-438C37235E0B}"/>
              </a:ext>
            </a:extLst>
          </p:cNvPr>
          <p:cNvSpPr/>
          <p:nvPr/>
        </p:nvSpPr>
        <p:spPr>
          <a:xfrm>
            <a:off x="5027060" y="3286090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3EE21D-62CA-DEB0-FAFE-7754D9EA987A}"/>
              </a:ext>
            </a:extLst>
          </p:cNvPr>
          <p:cNvSpPr txBox="1"/>
          <p:nvPr/>
        </p:nvSpPr>
        <p:spPr>
          <a:xfrm>
            <a:off x="5269926" y="3257777"/>
            <a:ext cx="3341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Very steep beyond 1.2: 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~0.48 p.p. ROA per +0.1 LCR.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9AB9F-E07E-05C4-0038-2D2DC40073C1}"/>
              </a:ext>
            </a:extLst>
          </p:cNvPr>
          <p:cNvSpPr txBox="1"/>
          <p:nvPr/>
        </p:nvSpPr>
        <p:spPr>
          <a:xfrm>
            <a:off x="2286000" y="23866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893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E6D3-12F1-3BC7-F13F-993A5BBB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DB281D-57F4-8549-6221-1DA48F892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54" y="1234927"/>
            <a:ext cx="4369821" cy="32773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40669-8E5A-B90A-E6A9-66C0F2EF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450756"/>
          </a:xfrm>
        </p:spPr>
        <p:txBody>
          <a:bodyPr/>
          <a:lstStyle/>
          <a:p>
            <a:r>
              <a:rPr lang="en-US" dirty="0">
                <a:ea typeface="Open Sans Regular"/>
              </a:rPr>
              <a:t>Results</a:t>
            </a:r>
            <a:br>
              <a:rPr lang="en-US" dirty="0">
                <a:ea typeface="Open Sans Regular"/>
              </a:rPr>
            </a:br>
            <a:endParaRPr lang="en-US" dirty="0">
              <a:ea typeface="Open Sans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6E0BF-A3AF-97D1-163D-835960D06115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E31B2-369E-66FC-9608-AAB0729707DC}"/>
              </a:ext>
            </a:extLst>
          </p:cNvPr>
          <p:cNvSpPr txBox="1"/>
          <p:nvPr/>
        </p:nvSpPr>
        <p:spPr>
          <a:xfrm>
            <a:off x="838845" y="929671"/>
            <a:ext cx="8003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Stochastic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confirms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non-linear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trade‑off, stochastic results show that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similar allocation portfolio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can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imply different regulatory safety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2634B-85FA-F8B7-2F08-7B96523767DF}"/>
              </a:ext>
            </a:extLst>
          </p:cNvPr>
          <p:cNvSpPr/>
          <p:nvPr/>
        </p:nvSpPr>
        <p:spPr>
          <a:xfrm>
            <a:off x="1113365" y="1612277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2B702-9FBE-6193-86E2-67D4ACABF7B1}"/>
              </a:ext>
            </a:extLst>
          </p:cNvPr>
          <p:cNvSpPr/>
          <p:nvPr/>
        </p:nvSpPr>
        <p:spPr>
          <a:xfrm>
            <a:off x="1113365" y="2082177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9FF64-73EC-29A0-56B9-FCA8049D6344}"/>
              </a:ext>
            </a:extLst>
          </p:cNvPr>
          <p:cNvSpPr/>
          <p:nvPr/>
        </p:nvSpPr>
        <p:spPr>
          <a:xfrm>
            <a:off x="1113365" y="2560671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B4AE1-929E-372D-3CBE-BC9147F88EEE}"/>
              </a:ext>
            </a:extLst>
          </p:cNvPr>
          <p:cNvSpPr/>
          <p:nvPr/>
        </p:nvSpPr>
        <p:spPr>
          <a:xfrm>
            <a:off x="1109132" y="3020364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5C3CD2-3A1A-67EF-9865-99530DF1B523}"/>
              </a:ext>
            </a:extLst>
          </p:cNvPr>
          <p:cNvSpPr/>
          <p:nvPr/>
        </p:nvSpPr>
        <p:spPr>
          <a:xfrm>
            <a:off x="1113365" y="3477475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4AE0F-E322-5C84-A66C-D26D96EEFD79}"/>
              </a:ext>
            </a:extLst>
          </p:cNvPr>
          <p:cNvSpPr/>
          <p:nvPr/>
        </p:nvSpPr>
        <p:spPr>
          <a:xfrm>
            <a:off x="1113365" y="3934586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4.8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27CB75-BFE5-FD2E-FD46-4DEC8E1CB5CD}"/>
              </a:ext>
            </a:extLst>
          </p:cNvPr>
          <p:cNvSpPr/>
          <p:nvPr/>
        </p:nvSpPr>
        <p:spPr>
          <a:xfrm>
            <a:off x="3131115" y="2325759"/>
            <a:ext cx="167473" cy="164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9C1E22-1546-3AEB-BDA4-BF075D321298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3274062" y="2242876"/>
            <a:ext cx="121834" cy="106918"/>
          </a:xfrm>
          <a:prstGeom prst="line">
            <a:avLst/>
          </a:prstGeom>
          <a:ln w="9525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46106BD-2006-626E-A171-58A1D6703698}"/>
              </a:ext>
            </a:extLst>
          </p:cNvPr>
          <p:cNvSpPr/>
          <p:nvPr/>
        </p:nvSpPr>
        <p:spPr>
          <a:xfrm>
            <a:off x="3380718" y="2065186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0B9F51-F013-AB80-7721-7525C5361705}"/>
              </a:ext>
            </a:extLst>
          </p:cNvPr>
          <p:cNvSpPr/>
          <p:nvPr/>
        </p:nvSpPr>
        <p:spPr>
          <a:xfrm>
            <a:off x="5073438" y="1966602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490D7D-A133-49C6-C6AD-01651A6FFF65}"/>
                  </a:ext>
                </a:extLst>
              </p:cNvPr>
              <p:cNvSpPr txBox="1"/>
              <p:nvPr/>
            </p:nvSpPr>
            <p:spPr>
              <a:xfrm>
                <a:off x="5298409" y="1927003"/>
                <a:ext cx="3624527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sz="1400" i="0" dirty="0">
                    <a:solidFill>
                      <a:srgbClr val="27251E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Deterministically, the allocation appears profit-maximizing while meeting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27251E"/>
                        </a:solidFill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𝐿𝐶𝑅</m:t>
                    </m:r>
                    <m:r>
                      <a:rPr lang="en-GB" sz="1400" b="0" i="1" smtClean="0">
                        <a:solidFill>
                          <a:srgbClr val="27251E"/>
                        </a:solidFill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≥1</m:t>
                    </m:r>
                    <m:r>
                      <a:rPr lang="en-GB" sz="1400" b="0" i="0" smtClean="0">
                        <a:solidFill>
                          <a:srgbClr val="27251E"/>
                        </a:solidFill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.</m:t>
                    </m:r>
                  </m:oMath>
                </a14:m>
                <a:r>
                  <a:rPr lang="en-GB" sz="1400" i="0" dirty="0">
                    <a:solidFill>
                      <a:srgbClr val="27251E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  <a:p>
                <a:pPr algn="l"/>
                <a:endParaRPr lang="en-GB" sz="1400" dirty="0">
                  <a:solidFill>
                    <a:srgbClr val="27251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l"/>
                <a:r>
                  <a:rPr lang="en-GB" sz="1400" dirty="0">
                    <a:solidFill>
                      <a:srgbClr val="27251E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</a:t>
                </a:r>
                <a:r>
                  <a:rPr lang="en-GB" sz="1400" i="0" dirty="0">
                    <a:solidFill>
                      <a:srgbClr val="27251E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tochastically, it still has ~ 40% breach probability.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490D7D-A133-49C6-C6AD-01651A6FF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409" y="1927003"/>
                <a:ext cx="3624527" cy="1169551"/>
              </a:xfrm>
              <a:prstGeom prst="rect">
                <a:avLst/>
              </a:prstGeom>
              <a:blipFill>
                <a:blip r:embed="rId4"/>
                <a:stretch>
                  <a:fillRect l="-504" t="-1563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46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8E068-610C-1BBF-2E96-A2C50412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DE333E-668F-5E59-FA79-C5B7E0BBC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67" y="1351914"/>
            <a:ext cx="4467548" cy="3219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6AA98-0FA0-996A-A2B6-517BAA85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457057"/>
          </a:xfrm>
        </p:spPr>
        <p:txBody>
          <a:bodyPr/>
          <a:lstStyle/>
          <a:p>
            <a:r>
              <a:rPr lang="en-US" dirty="0">
                <a:ea typeface="Open Sans Regular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C9C7A-98A7-7E2A-37F2-50B2C4B69639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0F0E0-2587-09EB-AE27-0B59E8DF4B31}"/>
              </a:ext>
            </a:extLst>
          </p:cNvPr>
          <p:cNvSpPr txBox="1"/>
          <p:nvPr/>
        </p:nvSpPr>
        <p:spPr>
          <a:xfrm>
            <a:off x="838846" y="809091"/>
            <a:ext cx="82117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Across regimes, model settings, and under balanced risk appetite, optimal weights remains unchanged except during COVID, when the portfolio rotates from government bonds into corporate bonds.</a:t>
            </a:r>
            <a:endParaRPr lang="en-US" sz="1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6BE8D-D3A1-379C-65A4-CE361E39983D}"/>
              </a:ext>
            </a:extLst>
          </p:cNvPr>
          <p:cNvSpPr txBox="1"/>
          <p:nvPr/>
        </p:nvSpPr>
        <p:spPr>
          <a:xfrm>
            <a:off x="5688095" y="1631375"/>
            <a:ext cx="323819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 the 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COVID regime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triggers reallocation: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government bonds fall from 30% to ~ 14%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corporate bonds rise from 16% to about 32%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ED2517-9463-72B6-F42E-8EBEFDC561F3}"/>
              </a:ext>
            </a:extLst>
          </p:cNvPr>
          <p:cNvSpPr/>
          <p:nvPr/>
        </p:nvSpPr>
        <p:spPr>
          <a:xfrm>
            <a:off x="5463123" y="1661520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1A8AF4-B9B1-B1EA-86A1-71CCDE702EC7}"/>
              </a:ext>
            </a:extLst>
          </p:cNvPr>
          <p:cNvSpPr/>
          <p:nvPr/>
        </p:nvSpPr>
        <p:spPr>
          <a:xfrm>
            <a:off x="3421430" y="2089192"/>
            <a:ext cx="181849" cy="2573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6A8D4D2-B29F-0DE7-EDCD-7C19EA6D643C}"/>
              </a:ext>
            </a:extLst>
          </p:cNvPr>
          <p:cNvSpPr/>
          <p:nvPr/>
        </p:nvSpPr>
        <p:spPr>
          <a:xfrm rot="10800000">
            <a:off x="3421428" y="2348247"/>
            <a:ext cx="181849" cy="257362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E2E7F1F2-3DBD-EF03-7DBE-BBA23B28282E}"/>
              </a:ext>
            </a:extLst>
          </p:cNvPr>
          <p:cNvSpPr/>
          <p:nvPr/>
        </p:nvSpPr>
        <p:spPr>
          <a:xfrm>
            <a:off x="3421430" y="2410318"/>
            <a:ext cx="181849" cy="257362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8AF706-FE5D-0504-ADBD-BAA6510D8BD3}"/>
              </a:ext>
            </a:extLst>
          </p:cNvPr>
          <p:cNvSpPr/>
          <p:nvPr/>
        </p:nvSpPr>
        <p:spPr>
          <a:xfrm>
            <a:off x="3421430" y="2667679"/>
            <a:ext cx="181847" cy="23609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9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7C7B-B7A1-C316-BEEF-1975E848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C528-A513-B448-17A1-B233AB18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Regular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8946-42BC-F5A2-6ACE-707D4C045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999" y="1007490"/>
            <a:ext cx="7773417" cy="346403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Profitability – Liquidity trade-off:</a:t>
            </a: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trade-off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non-linear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ROA falls ~ 0.39 percentage points 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around 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LCR = 0.87–1.2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declines ~ 0.5 percentage points 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once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LCR exceeds 1.2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0" indent="0">
              <a:buNone/>
            </a:pP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 of stochastic elements:</a:t>
            </a: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stochastic model extends the analysis with the third dimension -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LCR breach probability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providing a more decision-relevant measure of liquidity risk.</a:t>
            </a:r>
            <a:endParaRPr lang="en-GB" sz="1400" dirty="0"/>
          </a:p>
          <a:p>
            <a:pPr marL="0" indent="0">
              <a:buNone/>
            </a:pPr>
            <a:br>
              <a:rPr lang="en-GB" sz="1400" dirty="0"/>
            </a:b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Optimal assets allocation robustness:</a:t>
            </a: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allocation is identical across all regimes and models, only the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COVID regime 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generates reallocation, mainly a shift from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government bonds (~30% to ~14%) 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corporate bonds (~16% to ~32%).</a:t>
            </a: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indicates that the balanced optimal portfolio is </a:t>
            </a: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robust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changes only under exceptional market conditions.</a:t>
            </a:r>
          </a:p>
          <a:p>
            <a:pPr marL="0" indent="0">
              <a:buNone/>
            </a:pPr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B86BA-DD2B-5422-85AF-B5BE418AC58C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8</a:t>
            </a:r>
            <a:endParaRPr lang="en-US" sz="1000" dirty="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616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E81E-D032-22B2-E5D5-A9868CEB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A4F2-E013-818A-2C1F-2DD132FC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223562-8B9A-F79C-67DE-46FEB52E5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7999" y="1068805"/>
                <a:ext cx="7773417" cy="308074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Objective mathematical breakdown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Return on Assets (ROA):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𝑅𝑂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𝑅𝑂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𝑅𝑒𝑡𝑢𝑟𝑛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𝑜𝑛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𝐴𝑠𝑠𝑒𝑡𝑠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𝑤𝑒𝑖𝑔h𝑡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𝑖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𝑖𝑛𝑡𝑒𝑟𝑒𝑠𝑡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𝑟𝑎𝑡𝑒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𝑛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𝑛𝑢𝑚𝑏𝑒𝑟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=6</m:t>
                      </m:r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223562-8B9A-F79C-67DE-46FEB52E5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99" y="1068805"/>
                <a:ext cx="7773417" cy="3080746"/>
              </a:xfrm>
              <a:prstGeom prst="rect">
                <a:avLst/>
              </a:prstGeom>
              <a:blipFill>
                <a:blip r:embed="rId2"/>
                <a:stretch>
                  <a:fillRect l="-1412" t="-1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80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0259-214D-1487-4C39-651A4FBC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D92B-D101-C031-2B24-C2F5A8F0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FD0EC80-2CAC-B4B2-5DFD-82492F983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7999" y="923698"/>
                <a:ext cx="7773417" cy="362150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Objective mathematical breakdown</a:t>
                </a:r>
              </a:p>
              <a:p>
                <a:pPr marL="0" indent="0">
                  <a:buNone/>
                </a:pPr>
                <a:endParaRPr lang="en-GB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Liquidity Coverage Ratio (LCR):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𝐿𝐶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(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𝑖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𝑂𝑢𝑡𝑓𝑙𝑜𝑤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min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⁡(0.75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𝑂𝑢𝑡𝑓𝑙𝑜𝑤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,  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𝐼𝑛𝑓𝑙𝑜𝑤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140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𝑂𝑢𝑡𝑓𝑙𝑜𝑤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𝑠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𝑖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=1</m:t>
                        </m:r>
                      </m:sub>
                      <m:sup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(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𝑖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)</m:t>
                            </m:r>
                          </m:sup>
                        </m:sSubSup>
                        <m:sSubSup>
                          <m:sSubSup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(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𝑖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𝐼𝑛𝑓𝑙𝑜𝑤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𝑠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𝑖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=1</m:t>
                        </m:r>
                      </m:sub>
                      <m:sup>
                        <m:r>
                          <a:rPr lang="en-GB" sz="1400" i="1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(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𝑖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)</m:t>
                            </m:r>
                          </m:sup>
                        </m:sSubSup>
                        <m:sSubSup>
                          <m:sSubSup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(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𝑖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𝐿𝐶𝑅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𝐿𝑖𝑞𝑢𝑖𝑑𝑖𝑡𝑦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𝐶𝑜𝑣𝑒𝑟𝑎𝑔𝑒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𝑅𝑎𝑡𝑖𝑜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𝑡𝑜𝑡𝑎𝑙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𝑎𝑠𝑠𝑒𝑡𝑠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𝑤𝑒𝑖𝑔h𝑡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h𝑖𝑔h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𝑞𝑢𝑎𝑙𝑖𝑡𝑦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𝑙𝑖𝑞𝑢𝑖𝑑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𝑎𝑠𝑠𝑒𝑡𝑠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𝑓𝑢𝑛𝑑𝑖𝑛𝑔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𝑠𝑜𝑢𝑟𝑐𝑒𝑠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𝑟𝑢𝑛𝑜𝑓𝑓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𝑟𝑎𝑡𝑒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𝑡</m:t>
                      </m:r>
                    </m:oMath>
                  </m:oMathPara>
                </a14:m>
                <a:endParaRPr lang="en-GB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𝑖𝑛𝑓𝑙𝑜𝑤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𝑟𝑎𝑡𝑒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𝑚𝑜𝑛𝑡h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𝑡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FD0EC80-2CAC-B4B2-5DFD-82492F983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99" y="923698"/>
                <a:ext cx="7773417" cy="3621505"/>
              </a:xfrm>
              <a:prstGeom prst="rect">
                <a:avLst/>
              </a:prstGeom>
              <a:blipFill>
                <a:blip r:embed="rId2"/>
                <a:stretch>
                  <a:fillRect l="-1412" t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074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F329-8C6E-F453-4D64-B8956B4D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9632003-ECAC-9D0A-6508-1D4CD7898B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8000" y="1418732"/>
                <a:ext cx="3654000" cy="2215719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Stochastic elements:</a:t>
                </a:r>
              </a:p>
              <a:p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Asset returns:</a:t>
                </a:r>
              </a:p>
              <a:p>
                <a:pPr marL="0" indent="0">
                  <a:buNone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~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𝒩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𝜇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,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𝜎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,     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=1,…,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𝑆</m:t>
                      </m:r>
                    </m:oMath>
                  </m:oMathPara>
                </a14:m>
                <a:endParaRPr lang="en-GB" sz="1400" b="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500" b="0" i="1" dirty="0"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𝑟𝑒𝑡𝑢𝑟𝑛𝑠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𝑣𝑒𝑐𝑡𝑜𝑟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𝑖𝑛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𝑠𝑐𝑒𝑛𝑎𝑟𝑖𝑜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</m:t>
                      </m:r>
                    </m:oMath>
                  </m:oMathPara>
                </a14:m>
                <a:endParaRPr lang="en-GB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𝜇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h𝑖𝑠𝑡𝑜𝑟𝑖𝑐𝑎𝑙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𝑚𝑒𝑎𝑛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𝑣𝑒𝑐𝑡𝑜𝑟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𝑟𝑒𝑡𝑢𝑟𝑛𝑠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𝜎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h𝑖𝑠𝑡𝑜𝑟𝑖𝑐𝑎𝑙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𝑐𝑜𝑣𝑎𝑟𝑖𝑎𝑛𝑐𝑒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𝑚𝑎𝑡𝑟𝑖𝑥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𝑎𝑠𝑠𝑒𝑡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𝑟𝑒𝑡𝑢𝑟𝑛𝑠</m:t>
                      </m:r>
                    </m:oMath>
                  </m:oMathPara>
                </a14:m>
                <a:endParaRPr lang="en-GB" sz="1200" b="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𝑆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𝑛𝑢𝑚𝑏𝑒𝑟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𝑠𝑖𝑚𝑢𝑙𝑎𝑡𝑒𝑑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𝑠𝑐𝑒𝑛𝑎𝑟𝑖𝑜𝑠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=1000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5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5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9632003-ECAC-9D0A-6508-1D4CD7898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" y="1418732"/>
                <a:ext cx="3654000" cy="2215719"/>
              </a:xfrm>
              <a:prstGeom prst="rect">
                <a:avLst/>
              </a:prstGeom>
              <a:blipFill>
                <a:blip r:embed="rId2"/>
                <a:stretch>
                  <a:fillRect l="-3005" t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0A62DC-47D4-C381-4195-512A7E5C22B6}"/>
              </a:ext>
            </a:extLst>
          </p:cNvPr>
          <p:cNvSpPr txBox="1">
            <a:spLocks/>
          </p:cNvSpPr>
          <p:nvPr/>
        </p:nvSpPr>
        <p:spPr>
          <a:xfrm>
            <a:off x="4890304" y="1649683"/>
            <a:ext cx="3654000" cy="2215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Asset-return uncertainty is </a:t>
            </a:r>
            <a:r>
              <a:rPr lang="en-GB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modeled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 drawing scenario returns from a multivariate normal distribution calibrated to historical means and covariances.</a:t>
            </a: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captures both the average profitability of each asset class and their co-movements over time.</a:t>
            </a:r>
          </a:p>
        </p:txBody>
      </p:sp>
    </p:spTree>
    <p:extLst>
      <p:ext uri="{BB962C8B-B14F-4D97-AF65-F5344CB8AC3E}">
        <p14:creationId xmlns:p14="http://schemas.microsoft.com/office/powerpoint/2010/main" val="191185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277A-CDC0-3A27-E0FE-7A14DEB2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FED6-3046-726F-A365-6898ECB4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CB087-87E3-DC0C-1CF8-09672AAE5F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8000" y="973112"/>
                <a:ext cx="3654000" cy="3465780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Stochastic elements:</a:t>
                </a:r>
              </a:p>
              <a:p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Liquidity demand</a:t>
                </a: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 </m:t>
                      </m:r>
                      <m:sSubSup>
                        <m:sSub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∗(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𝑆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𝑆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∗(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𝑠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GB" sz="1400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∗(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1+ </m:t>
                          </m:r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GB" sz="1400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0.5,</m:t>
                              </m:r>
                              <m:func>
                                <m:func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 panose="020B0606030504020204" pitchFamily="34" charset="0"/>
                                        </a:rPr>
                                        <m:t>−0.3, </m:t>
                                      </m:r>
                                      <m:sSubSup>
                                        <m:sSubSupPr>
                                          <m:ctrlP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GB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Open Sans" panose="020B060603050402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GB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Open Sans" panose="020B0606030504020204" pitchFamily="34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GB" sz="1400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:endParaRPr lang="en-GB" sz="140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~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𝒩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0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400" b="0" i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CB087-87E3-DC0C-1CF8-09672AAE5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00" y="973112"/>
                <a:ext cx="3654000" cy="3465780"/>
              </a:xfrm>
              <a:prstGeom prst="rect">
                <a:avLst/>
              </a:prstGeom>
              <a:blipFill>
                <a:blip r:embed="rId2"/>
                <a:stretch>
                  <a:fillRect l="-3005" t="-15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B87DD96-F8F5-74F0-5A6E-A09620DF7D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303" y="1462887"/>
                <a:ext cx="3801113" cy="2840750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216000" indent="-2160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Clr>
                    <a:schemeClr val="tx2"/>
                  </a:buClr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742950" indent="-28575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2pPr>
                <a:lvl3pPr marL="11430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•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3pPr>
                <a:lvl4pPr marL="16002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–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4pPr>
                <a:lvl5pPr marL="2057400" indent="-228600" algn="l" defTabSz="457200" rtl="0" eaLnBrk="1" latinLnBrk="0" hangingPunct="1">
                  <a:lnSpc>
                    <a:spcPct val="112000"/>
                  </a:lnSpc>
                  <a:spcBef>
                    <a:spcPts val="0"/>
                  </a:spcBef>
                  <a:buFont typeface="Arial"/>
                  <a:buChar char="»"/>
                  <a:defRPr sz="1700" kern="1200">
                    <a:solidFill>
                      <a:schemeClr val="tx1"/>
                    </a:solidFill>
                    <a:latin typeface="Open Sans Light"/>
                    <a:ea typeface="+mn-ea"/>
                    <a:cs typeface="Open Sans Light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𝑓𝑖𝑛𝑎𝑙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𝑟𝑒𝑠𝑐𝑎𝑙𝑒𝑑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𝑟𝑢𝑛𝑜𝑓𝑓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𝑟𝑎𝑡𝑒𝑠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𝑣𝑒𝑐𝑡𝑜𝑟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𝑖𝑛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𝑠𝑐𝑒𝑛𝑎𝑟𝑖𝑜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∗(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𝑟𝑢𝑛𝑜𝑓𝑓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𝑟𝑎𝑡𝑒𝑠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𝑣𝑒𝑐𝑡𝑜𝑟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𝑖𝑛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𝑠𝑐𝑒𝑛𝑎𝑟𝑖𝑜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Sup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𝛿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𝑠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)</m:t>
                        </m:r>
                      </m:sup>
                    </m:sSubSup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: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𝑏𝑎𝑠𝑒𝑙𝑖𝑛𝑒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𝑟𝑢𝑛𝑜𝑓𝑓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𝑟𝑎𝑡𝑒</m:t>
                    </m:r>
                  </m:oMath>
                </a14:m>
                <a:r>
                  <a:rPr lang="en-GB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Open Sans" panose="020B0606030504020204" pitchFamily="34" charset="0"/>
                  </a:rPr>
                  <a:t> of category </a:t>
                </a:r>
                <a:r>
                  <a:rPr lang="en-GB" sz="1200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Open Sans" panose="020B0606030504020204" pitchFamily="34" charset="0"/>
                  </a:rPr>
                  <a:t>i</a:t>
                </a:r>
                <a:endParaRPr lang="en-GB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𝑐𝑙𝑖𝑝𝑝𝑒𝑑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𝑠h𝑜𝑐𝑘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𝑖𝑛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𝑠𝑐𝑒𝑛𝑎𝑟𝑖𝑜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𝑟𝑎𝑤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𝑠h𝑜𝑐𝑘𝑒𝑑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𝑠𝑐𝑒𝑛𝑎𝑟𝑖𝑜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: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𝑣𝑜𝑙𝑎𝑡𝑖𝑙𝑖𝑡𝑦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𝑝𝑎𝑟𝑎𝑚𝑒𝑡𝑒𝑟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𝑜𝑓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𝑐𝑎𝑡𝑒𝑔𝑜𝑟𝑦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𝑖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GB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>
                  <a:buNone/>
                </a:pPr>
                <a:r>
                  <a:rPr lang="en-GB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Funding uncertainty is introduced by applying truncated normally distributed shocks to baseline liability run-off rates, such that scenario-specific rates remain within − 30 and + 50% of their calibrated levels before rescaling.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B87DD96-F8F5-74F0-5A6E-A09620DF7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303" y="1462887"/>
                <a:ext cx="3801113" cy="2840750"/>
              </a:xfrm>
              <a:prstGeom prst="rect">
                <a:avLst/>
              </a:prstGeom>
              <a:blipFill>
                <a:blip r:embed="rId3"/>
                <a:stretch>
                  <a:fillRect l="-2404" r="-2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830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8693-AE51-8CC0-51DB-D083F13E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4D87AC0-2C8D-76AF-DAD7-C52EB3ED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00" y="1387438"/>
            <a:ext cx="4192223" cy="3093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E70C1-07BF-EC1F-4B59-48547B1A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452077"/>
          </a:xfrm>
        </p:spPr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US" dirty="0">
              <a:ea typeface="Open Sans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25CD3-2444-A897-1A87-C2556446388C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F0422-955B-C076-E018-A9AC05EEC7BE}"/>
              </a:ext>
            </a:extLst>
          </p:cNvPr>
          <p:cNvSpPr txBox="1"/>
          <p:nvPr/>
        </p:nvSpPr>
        <p:spPr>
          <a:xfrm>
            <a:off x="838846" y="853790"/>
            <a:ext cx="785257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Deterministic case, current market: Profit maximization under LCR ≥1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achieved through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reallocation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government bonds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corporate bonds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FF098-5952-D712-92DB-2D58294D256A}"/>
                  </a:ext>
                </a:extLst>
              </p:cNvPr>
              <p:cNvSpPr txBox="1"/>
              <p:nvPr/>
            </p:nvSpPr>
            <p:spPr>
              <a:xfrm>
                <a:off x="5522614" y="1452077"/>
                <a:ext cx="3581192" cy="224676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key shift is from:</a:t>
                </a:r>
              </a:p>
              <a:p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government bonds: 30.0% </a:t>
                </a:r>
                <a14:m>
                  <m:oMath xmlns:m="http://schemas.openxmlformats.org/officeDocument/2006/math">
                    <m:r>
                      <a:rPr lang="en-GB" sz="1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 18.93%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corporate bonds: 16.0% </a:t>
                </a:r>
                <a14:m>
                  <m:oMath xmlns:m="http://schemas.openxmlformats.org/officeDocument/2006/math">
                    <m:r>
                      <a:rPr lang="en-GB" sz="1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 27.0%</a:t>
                </a: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b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</a:b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br>
                  <a:rPr lang="en-GB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</a:br>
                <a:endParaRPr lang="en-GB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FF098-5952-D712-92DB-2D58294D2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614" y="1452077"/>
                <a:ext cx="3581192" cy="2246769"/>
              </a:xfrm>
              <a:prstGeom prst="rect">
                <a:avLst/>
              </a:prstGeom>
              <a:blipFill>
                <a:blip r:embed="rId4"/>
                <a:stretch>
                  <a:fillRect l="-511" t="-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6769A5A8-EF99-18B5-3849-C3ABFF854CAD}"/>
              </a:ext>
            </a:extLst>
          </p:cNvPr>
          <p:cNvSpPr/>
          <p:nvPr/>
        </p:nvSpPr>
        <p:spPr>
          <a:xfrm>
            <a:off x="2988388" y="2650547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1030A6-4028-0AC8-1EAD-EE02BBA47E49}"/>
              </a:ext>
            </a:extLst>
          </p:cNvPr>
          <p:cNvSpPr/>
          <p:nvPr/>
        </p:nvSpPr>
        <p:spPr>
          <a:xfrm>
            <a:off x="5261931" y="1488976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43045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60F9-0121-B993-38B2-0FADA9C5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D495-174D-F53B-C1FE-4830D715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452077"/>
          </a:xfrm>
        </p:spPr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US" dirty="0">
              <a:ea typeface="Open Sans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7EFE9-B9E3-1A3B-78BF-0CB61FE6E744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34C0C3-B97D-075A-2E25-61989939B24C}"/>
              </a:ext>
            </a:extLst>
          </p:cNvPr>
          <p:cNvSpPr txBox="1"/>
          <p:nvPr/>
        </p:nvSpPr>
        <p:spPr>
          <a:xfrm>
            <a:off x="838846" y="878195"/>
            <a:ext cx="785257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Stochastic, current market: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 zero LCR breach probability constraint, the stochastic optimum becomes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far more conservative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 the deterministic optimum.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3455BF-4176-AB20-DD16-B8D1931CEF95}"/>
              </a:ext>
            </a:extLst>
          </p:cNvPr>
          <p:cNvSpPr txBox="1"/>
          <p:nvPr/>
        </p:nvSpPr>
        <p:spPr>
          <a:xfrm>
            <a:off x="5531090" y="1581127"/>
            <a:ext cx="3386958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portfolio shifts toward more liquid assets: </a:t>
            </a:r>
          </a:p>
          <a:p>
            <a:endParaRPr lang="en-GB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cash and reserves: 2% → 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corporate bonds: 16% → 10%</a:t>
            </a:r>
          </a:p>
          <a:p>
            <a:endParaRPr lang="en-GB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achieve the zero-breach probability.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76B4D-6A5F-FDB7-3921-27575DAC5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00" y="1381754"/>
            <a:ext cx="4192224" cy="303859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7CC374F-93A3-D944-5566-F5850C0AD17D}"/>
              </a:ext>
            </a:extLst>
          </p:cNvPr>
          <p:cNvSpPr/>
          <p:nvPr/>
        </p:nvSpPr>
        <p:spPr>
          <a:xfrm>
            <a:off x="2974535" y="2648703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6FA3BD-D484-45B0-4DAF-9816E6CCECA5}"/>
              </a:ext>
            </a:extLst>
          </p:cNvPr>
          <p:cNvSpPr/>
          <p:nvPr/>
        </p:nvSpPr>
        <p:spPr>
          <a:xfrm>
            <a:off x="5274783" y="1641450"/>
            <a:ext cx="224971" cy="23114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8640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197F-D095-1ACB-B61C-CD0D6E95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DD67-0E6A-FC04-AACA-C886CDCF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236A3-D015-FB71-A32F-CB46D4A96F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48" y="1367436"/>
            <a:ext cx="4271703" cy="3181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BC7800-D8E0-5D3B-FF42-95109878BC40}"/>
              </a:ext>
            </a:extLst>
          </p:cNvPr>
          <p:cNvSpPr txBox="1"/>
          <p:nvPr/>
        </p:nvSpPr>
        <p:spPr>
          <a:xfrm>
            <a:off x="838845" y="929671"/>
            <a:ext cx="8003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Deterministic case: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profitability–liquidity trade-off is consistent across regimes, with COVID showing the lowest ROA.</a:t>
            </a:r>
            <a:endParaRPr lang="en-US" sz="1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B7E363-0516-FEC2-1684-362E8E74CFEC}"/>
              </a:ext>
            </a:extLst>
          </p:cNvPr>
          <p:cNvSpPr/>
          <p:nvPr/>
        </p:nvSpPr>
        <p:spPr>
          <a:xfrm>
            <a:off x="2436148" y="1605005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7.0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5A85A-E851-6B6E-F8CE-19532DE8FD75}"/>
              </a:ext>
            </a:extLst>
          </p:cNvPr>
          <p:cNvSpPr/>
          <p:nvPr/>
        </p:nvSpPr>
        <p:spPr>
          <a:xfrm>
            <a:off x="2436148" y="2146872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6.0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4FB67-F462-B258-B400-94644531FA04}"/>
              </a:ext>
            </a:extLst>
          </p:cNvPr>
          <p:cNvSpPr/>
          <p:nvPr/>
        </p:nvSpPr>
        <p:spPr>
          <a:xfrm>
            <a:off x="2436148" y="2366433"/>
            <a:ext cx="141952" cy="96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1001">
            <a:schemeClr val="lt1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D793C9-9C43-1C60-0992-465FDE91B47D}"/>
              </a:ext>
            </a:extLst>
          </p:cNvPr>
          <p:cNvSpPr/>
          <p:nvPr/>
        </p:nvSpPr>
        <p:spPr>
          <a:xfrm>
            <a:off x="2436148" y="2675131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C4889-BF70-BFAF-A23A-B8F9A5D04A7B}"/>
              </a:ext>
            </a:extLst>
          </p:cNvPr>
          <p:cNvSpPr/>
          <p:nvPr/>
        </p:nvSpPr>
        <p:spPr>
          <a:xfrm>
            <a:off x="2436148" y="3199156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4.0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476B7B-F787-26F2-D730-B51A6E465959}"/>
              </a:ext>
            </a:extLst>
          </p:cNvPr>
          <p:cNvSpPr/>
          <p:nvPr/>
        </p:nvSpPr>
        <p:spPr>
          <a:xfrm>
            <a:off x="2436148" y="3723181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3.0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C846A-1F1B-35F3-8A95-5244F362A8BD}"/>
              </a:ext>
            </a:extLst>
          </p:cNvPr>
          <p:cNvSpPr txBox="1"/>
          <p:nvPr/>
        </p:nvSpPr>
        <p:spPr>
          <a:xfrm rot="16200000">
            <a:off x="1320800" y="2750715"/>
            <a:ext cx="1667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Return on Assets (ROA)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C24696-3608-D47B-131C-15A1905D3D18}"/>
              </a:ext>
            </a:extLst>
          </p:cNvPr>
          <p:cNvSpPr/>
          <p:nvPr/>
        </p:nvSpPr>
        <p:spPr>
          <a:xfrm rot="5400000">
            <a:off x="4686732" y="3887293"/>
            <a:ext cx="141952" cy="1194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1001">
            <a:schemeClr val="lt1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C1BFBF-5BF2-3589-E82A-A0A6C9B32644}"/>
              </a:ext>
            </a:extLst>
          </p:cNvPr>
          <p:cNvSpPr txBox="1"/>
          <p:nvPr/>
        </p:nvSpPr>
        <p:spPr>
          <a:xfrm>
            <a:off x="3772038" y="4410350"/>
            <a:ext cx="2192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Liquidity coverage ratio (LCR)</a:t>
            </a:r>
          </a:p>
        </p:txBody>
      </p:sp>
    </p:spTree>
    <p:extLst>
      <p:ext uri="{BB962C8B-B14F-4D97-AF65-F5344CB8AC3E}">
        <p14:creationId xmlns:p14="http://schemas.microsoft.com/office/powerpoint/2010/main" val="3943450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DECCD-0D61-B67F-4778-46FDAF22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FE41C2-FFCD-05EB-2F8A-BA85DB210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33" y="1321059"/>
            <a:ext cx="4326467" cy="3347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E7F3D6-2D74-BF6C-5029-A9905DF6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0E95E-9653-F42C-8869-FB099DAEFBBF}"/>
              </a:ext>
            </a:extLst>
          </p:cNvPr>
          <p:cNvSpPr txBox="1"/>
          <p:nvPr/>
        </p:nvSpPr>
        <p:spPr>
          <a:xfrm>
            <a:off x="838846" y="929671"/>
            <a:ext cx="79903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Stochastic case: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line with deterministic case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extends the analysis </a:t>
            </a:r>
            <a:r>
              <a:rPr lang="en-GB" sz="1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the </a:t>
            </a:r>
            <a:r>
              <a:rPr lang="en-GB" sz="14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breach probability measurement.</a:t>
            </a:r>
            <a:endParaRPr lang="en-US" sz="1400" b="1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2497C-E50A-148A-F6E8-7DDFD41B4F1D}"/>
              </a:ext>
            </a:extLst>
          </p:cNvPr>
          <p:cNvSpPr/>
          <p:nvPr/>
        </p:nvSpPr>
        <p:spPr>
          <a:xfrm>
            <a:off x="2365172" y="1618613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7.0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58AC2D-2FA7-1A6B-524B-508E2A58D638}"/>
              </a:ext>
            </a:extLst>
          </p:cNvPr>
          <p:cNvSpPr/>
          <p:nvPr/>
        </p:nvSpPr>
        <p:spPr>
          <a:xfrm>
            <a:off x="2365172" y="2158025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6.0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B451E-EE10-CD33-01FF-07DFA43F9F8A}"/>
              </a:ext>
            </a:extLst>
          </p:cNvPr>
          <p:cNvSpPr/>
          <p:nvPr/>
        </p:nvSpPr>
        <p:spPr>
          <a:xfrm>
            <a:off x="2365172" y="2387600"/>
            <a:ext cx="141952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1001">
            <a:schemeClr val="lt1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B99C86-7786-8C00-1CE0-EEF500DAD0A6}"/>
              </a:ext>
            </a:extLst>
          </p:cNvPr>
          <p:cNvSpPr/>
          <p:nvPr/>
        </p:nvSpPr>
        <p:spPr>
          <a:xfrm>
            <a:off x="2365172" y="2683262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5.0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BC492-13C3-6F0F-82C8-87CF488ED7A8}"/>
              </a:ext>
            </a:extLst>
          </p:cNvPr>
          <p:cNvSpPr/>
          <p:nvPr/>
        </p:nvSpPr>
        <p:spPr>
          <a:xfrm>
            <a:off x="2365172" y="3268301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4.0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3B508-DD6F-B7E7-EDB8-64797D4DBEA4}"/>
              </a:ext>
            </a:extLst>
          </p:cNvPr>
          <p:cNvSpPr/>
          <p:nvPr/>
        </p:nvSpPr>
        <p:spPr>
          <a:xfrm>
            <a:off x="2365172" y="3803530"/>
            <a:ext cx="317500" cy="1606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b="1" dirty="0"/>
              <a:t>3.0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951F56-2C11-F640-2A8E-D37592B06B38}"/>
              </a:ext>
            </a:extLst>
          </p:cNvPr>
          <p:cNvSpPr txBox="1"/>
          <p:nvPr/>
        </p:nvSpPr>
        <p:spPr>
          <a:xfrm rot="16200000">
            <a:off x="1320800" y="2750715"/>
            <a:ext cx="1667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Return on Assets (ROA)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13A01E-3DAC-5319-7C9A-0BCF42D00536}"/>
              </a:ext>
            </a:extLst>
          </p:cNvPr>
          <p:cNvSpPr/>
          <p:nvPr/>
        </p:nvSpPr>
        <p:spPr>
          <a:xfrm rot="5400000">
            <a:off x="4288375" y="3881980"/>
            <a:ext cx="104697" cy="1393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1001">
            <a:schemeClr val="lt1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9AAD5-03F3-D5D5-CD1A-07DCEB2CEAE2}"/>
              </a:ext>
            </a:extLst>
          </p:cNvPr>
          <p:cNvSpPr txBox="1"/>
          <p:nvPr/>
        </p:nvSpPr>
        <p:spPr>
          <a:xfrm>
            <a:off x="3475634" y="4492878"/>
            <a:ext cx="2192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Liquidity coverage ratio (LCR)</a:t>
            </a:r>
          </a:p>
        </p:txBody>
      </p:sp>
    </p:spTree>
    <p:extLst>
      <p:ext uri="{BB962C8B-B14F-4D97-AF65-F5344CB8AC3E}">
        <p14:creationId xmlns:p14="http://schemas.microsoft.com/office/powerpoint/2010/main" val="25446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F630-151A-E2E8-542B-5CDBF54E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B925-16C7-991B-3F7F-0B8F080D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9C6F-1A58-32FE-FF7C-20BF1AE6A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999" y="1181304"/>
            <a:ext cx="7773417" cy="3107109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Limitations: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model is based on a </a:t>
            </a: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stylized balance sheet representation </a:t>
            </a:r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asset-class weights as decision variables, so it abstracts from many institution-specific features such as funding structure, customer behaviour, etc.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Results depend on the assumed stochastic stress structure.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focuses mainly on </a:t>
            </a: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LCR-based short-term liquidity risk</a:t>
            </a:r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the long-term metrics.</a:t>
            </a:r>
          </a:p>
          <a:p>
            <a:endParaRPr lang="en-GB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research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Extend the model to </a:t>
            </a: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bank-level data</a:t>
            </a:r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Include long-term liquidity measurement - </a:t>
            </a: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 Stable Funding Ratio (NSFR) </a:t>
            </a:r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other regulatory constraints.</a:t>
            </a:r>
          </a:p>
          <a:p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robustness under </a:t>
            </a:r>
            <a:r>
              <a:rPr lang="en-GB" sz="1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broader systemic stress scenarios</a:t>
            </a:r>
            <a:r>
              <a:rPr lang="en-GB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1FB42-42C6-4215-0F69-6E8275E1BC2B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8</a:t>
            </a:r>
            <a:endParaRPr lang="en-US" sz="1000" dirty="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3303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AE5D-BA5E-ECD4-4C57-4A2B63EC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0290-CFB6-8855-A544-7AF07FA143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Committee on Banking Supervision (2011),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III: A global regulatory framework for more resilient banks and banking systems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BIS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Committee on Banking Supervision (2013),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Basel III: The Liquidity Coverage Ratio and liquidity risk monitoring tools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BIS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Berger, A.N., &amp; Bouwman, C.H.S. (2009),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Bank liquidity creation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Review of Financial Studies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Bordeleau, É., &amp; Graham, C. (2010),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impact of liquidity on bank profitability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Bank of Canada Working Paper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Diamond, D.W., &amp; Dybvig, P.H. (1983),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Bank runs, deposit insurance, and liquidity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Journal of Political Economy</a:t>
            </a:r>
          </a:p>
          <a:p>
            <a:pPr marL="215900" indent="-215900"/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Brunnermeier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M.K., &amp; Oehmke, M. (2013),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maturity rat race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Journal of Finance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Deb, K. (2001),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Multi‑objective Optimization using Evolutionary Algorithms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Wiley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Miettinen, K. (1999),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Nonlinear </a:t>
            </a:r>
            <a:r>
              <a:rPr lang="en-US" sz="12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Multiobjective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Optimization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Kluwer Academic Publishers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Kall, P., &amp; Wallace, S.W. (1994),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Stochastic Programming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Wiley</a:t>
            </a:r>
          </a:p>
          <a:p>
            <a:pPr marL="215900" indent="-21590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Freixas, X., &amp; Rochet, J.‑C. (2008),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Microeconomics of Banking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MIT Press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131C1-757C-6EC5-0ECE-9D30E748835B}"/>
              </a:ext>
            </a:extLst>
          </p:cNvPr>
          <p:cNvSpPr txBox="1"/>
          <p:nvPr/>
        </p:nvSpPr>
        <p:spPr>
          <a:xfrm>
            <a:off x="8797803" y="4799134"/>
            <a:ext cx="25277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a typeface="Calibri"/>
                <a:cs typeface="Calibri"/>
              </a:rPr>
              <a:t>9</a:t>
            </a:r>
            <a:endParaRPr lang="en-US" sz="1000" dirty="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39194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e 3">
      <a:dk1>
        <a:sysClr val="windowText" lastClr="000000"/>
      </a:dk1>
      <a:lt1>
        <a:sysClr val="window" lastClr="FFFFFF"/>
      </a:lt1>
      <a:dk2>
        <a:srgbClr val="007481"/>
      </a:dk2>
      <a:lt2>
        <a:srgbClr val="FFFFFF"/>
      </a:lt2>
      <a:accent1>
        <a:srgbClr val="007481"/>
      </a:accent1>
      <a:accent2>
        <a:srgbClr val="C7D42D"/>
      </a:accent2>
      <a:accent3>
        <a:srgbClr val="00B0E1"/>
      </a:accent3>
      <a:accent4>
        <a:srgbClr val="C6C6C6"/>
      </a:accent4>
      <a:accent5>
        <a:srgbClr val="7C7C7C"/>
      </a:accent5>
      <a:accent6>
        <a:srgbClr val="3C3C3C"/>
      </a:accent6>
      <a:hlink>
        <a:srgbClr val="009FE3"/>
      </a:hlink>
      <a:folHlink>
        <a:srgbClr val="BBE4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GH_prezentacja_ogolna.pptx" id="{EB8B5747-0CD9-47AE-A305-1EEA84580747}" vid="{9F6FD65E-55FC-40D3-8F2C-1C73F0E235F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A82BB1D4664E498F15E5C30805AA71" ma:contentTypeVersion="6" ma:contentTypeDescription="Create a new document." ma:contentTypeScope="" ma:versionID="a50de3177cb10ab216de686e356f2612">
  <xsd:schema xmlns:xsd="http://www.w3.org/2001/XMLSchema" xmlns:xs="http://www.w3.org/2001/XMLSchema" xmlns:p="http://schemas.microsoft.com/office/2006/metadata/properties" xmlns:ns2="6d6b1c8d-1e5b-4294-b639-ebebbab350d6" targetNamespace="http://schemas.microsoft.com/office/2006/metadata/properties" ma:root="true" ma:fieldsID="e078a1d67ce0daf28df24b7985b9b79b" ns2:_="">
    <xsd:import namespace="6d6b1c8d-1e5b-4294-b639-ebebbab350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6b1c8d-1e5b-4294-b639-ebebbab350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16E3A7-EE9F-4734-A17B-C3B09181A4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089B99-6C05-4236-B608-2A24888FAA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6b1c8d-1e5b-4294-b639-ebebbab350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7146F4-CD50-483B-A986-20DDE415AD2A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</TotalTime>
  <Words>1749</Words>
  <Application>Microsoft Office PowerPoint</Application>
  <PresentationFormat>On-screen Show (16:9)</PresentationFormat>
  <Paragraphs>284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Open Sans</vt:lpstr>
      <vt:lpstr>Open Sans Light</vt:lpstr>
      <vt:lpstr>Open Sans Regular</vt:lpstr>
      <vt:lpstr>Motyw pakietu Office</vt:lpstr>
      <vt:lpstr>Optimizing bank capital allocation under the Profitability–Liquidity risk trade-off</vt:lpstr>
      <vt:lpstr>Objective</vt:lpstr>
      <vt:lpstr>Motivation</vt:lpstr>
      <vt:lpstr>Literature background &amp; Research gap</vt:lpstr>
      <vt:lpstr>Data</vt:lpstr>
      <vt:lpstr>Problem definition</vt:lpstr>
      <vt:lpstr>Method</vt:lpstr>
      <vt:lpstr>Method</vt:lpstr>
      <vt:lpstr>Results </vt:lpstr>
      <vt:lpstr>Results </vt:lpstr>
      <vt:lpstr>Results</vt:lpstr>
      <vt:lpstr>Conclusion</vt:lpstr>
      <vt:lpstr>Appendix </vt:lpstr>
      <vt:lpstr>Appendix </vt:lpstr>
      <vt:lpstr>Appendix</vt:lpstr>
      <vt:lpstr>Appendix</vt:lpstr>
      <vt:lpstr>Appendix </vt:lpstr>
      <vt:lpstr>Appendix </vt:lpstr>
      <vt:lpstr>Appendix</vt:lpstr>
      <vt:lpstr>Appendix</vt:lpstr>
      <vt:lpstr>Appendix </vt:lpstr>
      <vt:lpstr>Appendix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Giang Nguyen</dc:creator>
  <cp:lastModifiedBy>Ky Anh Le</cp:lastModifiedBy>
  <cp:revision>541</cp:revision>
  <dcterms:created xsi:type="dcterms:W3CDTF">2026-05-10T06:25:45Z</dcterms:created>
  <dcterms:modified xsi:type="dcterms:W3CDTF">2026-06-07T10:04:14Z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0x010100FDA82BB1D4664E498F15E5C30805AA71</vt:lpwstr>
  </property>
</Properties>
</file>